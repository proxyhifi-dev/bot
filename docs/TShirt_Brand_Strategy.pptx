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428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Fabric &amp; Stitching</c:v>
                  </c:pt>
                  <c:pt idx="1">
                    <c:v>Printing/Trims</c:v>
                  </c:pt>
                  <c:pt idx="2">
                    <c:v>Packaging</c:v>
                  </c:pt>
                  <c:pt idx="3">
                    <c:v>Logistics</c:v>
                  </c:pt>
                  <c:pt idx="4">
                    <c:v>Platform/Marketplace Fee</c:v>
                  </c:pt>
                  <c:pt idx="5">
                    <c:v>Marketing (CAC)</c:v>
                  </c:pt>
                  <c:pt idx="6">
                    <c:v>Net Margin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10</c:v>
                </c:pt>
                <c:pt idx="2">
                  <c:v>5</c:v>
                </c:pt>
                <c:pt idx="3">
                  <c:v>12</c:v>
                </c:pt>
                <c:pt idx="4">
                  <c:v>15</c:v>
                </c:pt>
                <c:pt idx="5">
                  <c:v>18</c:v>
                </c:pt>
                <c:pt idx="6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428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12B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212B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87599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CASUALWEAR STARTUP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T-Shirt &amp; Shirt Brand That Survives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comparison, business-model trade-offs, end-to-end operations, and the risk map for launch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6126480"/>
            <a:ext cx="10515600" cy="0"/>
          </a:xfrm>
          <a:prstGeom prst="line">
            <a:avLst/>
          </a:prstGeom>
          <a:noFill/>
          <a:ln w="12700">
            <a:solidFill>
              <a:srgbClr val="4450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Idea-Stage Business Plan  |  Prepared for Founder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9961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11" y="1567647"/>
            <a:ext cx="430865" cy="430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99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growth and where t-shirts fit in India's apparel story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49961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231" y="1567647"/>
            <a:ext cx="430865" cy="4308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399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4944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Fast-fashion giants, D2C challengers, and unbranded local players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59689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" y="2664927"/>
            <a:ext cx="430865" cy="4308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496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vs. The Competition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2843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across price, speed, loyalty and reach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72200" y="259689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231" y="2664927"/>
            <a:ext cx="430865" cy="4308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2496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Options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949440" y="2843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D2C, marketplace-first and offline — benefits and losses of each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69417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11" y="3762207"/>
            <a:ext cx="430865" cy="4308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593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Value Chain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417320" y="3941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 to delivery, every step that must work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172200" y="369417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231" y="3762207"/>
            <a:ext cx="430865" cy="43086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3593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Margin Snapshot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949440" y="3941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goes, and what's left over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0080" y="479145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11" y="4859487"/>
            <a:ext cx="430865" cy="43086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17320" y="4690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Survive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1417320" y="50383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 for staying alive past year one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172200" y="4791456"/>
            <a:ext cx="566928" cy="566928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231" y="4859487"/>
            <a:ext cx="430865" cy="43086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49440" y="4690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500" dirty="0"/>
          </a:p>
        </p:txBody>
      </p:sp>
      <p:sp>
        <p:nvSpPr>
          <p:cNvPr id="34" name="Text 24"/>
          <p:cNvSpPr/>
          <p:nvPr/>
        </p:nvSpPr>
        <p:spPr>
          <a:xfrm>
            <a:off x="6949440" y="50383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look at what can go wrong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You're Entering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casualwear boom is real — but it's also crowded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DEBE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$5.3B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t-shirt market size, growing at a fast clip year over year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AED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$116.6B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India clothing market size in 2025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DEBE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D2C e-commerce sales that apparel &amp; footwear command — the largest single category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AED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32688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India's D2C e-commerce market through 2031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EFAE4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4683557"/>
            <a:ext cx="416966" cy="41696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45720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a new t-shirt/shirt brand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91640" y="4956048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genuinely growing — online discovery, Tier-2/3 smartphone adoption and casualwear becoming everyday wear all help a new entrant.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entry barriers are low for everyone else too — dozens of D2C brands (Bewakoof, The Souled Store, SNITCH, Campus Sutra) already own strong Gen-Z/millennial mindshare.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depends less on “entering the market” and more on picking a defensible niche and executing operations tightly.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You're Really Competing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581912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653235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453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Fast-Fashion Giants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45920" y="18928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Zudio, H&amp;M, Zara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6112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pricing, huge store/online reach, low margin tolerance for challengers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581912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995" y="1653235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5453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Challenger Brands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69480" y="18928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SNITCH, Bewakoof, The Souled Store, Campus Sutra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19672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Gen-Z branding, weekly drops, influencer-led marketing, loyal online followings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5661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3822192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3893515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7856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Unbranded / Local Wholesale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45920" y="41330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manufacturers, Tier-2/3 markets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96112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Rock-bottom prices, no brand loyalty, thin but everywhere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35661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9672" y="3822192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3893515"/>
            <a:ext cx="451714" cy="45171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37856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 Formal Labels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269480" y="41330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Solly, Van Heusen, Peter England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519672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quality perception, higher price points, workwear occasions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Head-to-Head: Where a New Brand Stands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908792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2423160"/>
                <a:gridCol w="2011680"/>
                <a:gridCol w="2084832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Fast-Fashion Giants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Established D2C Brands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Unbranded Local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Your New Brand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Price 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Low–Mid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Mid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Lowest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Mid (start)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Speed to trend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Very Fast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Slow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Must be fast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Brand loyalty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To be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Quality control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Consistent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Consistent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Inconsistent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Your edge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Distribution reach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Very Wide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Wide (online)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Hyper-local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Narrow (start)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Barrier you face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High capital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High marketing spend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84A"/>
                          </a:solidFill>
                        </a:rPr>
                        <a:t>Low (many rivals)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284A"/>
                          </a:solidFill>
                        </a:rPr>
                        <a:t>Everything above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EFAE4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57424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out-price the unbranded segment or out-spend the giants. Compete on a specific niche, fit/quality consistency, and a direct relationship with a defined customer.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Route to Market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— Own Website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2238451"/>
            <a:ext cx="277978" cy="2779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221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margin, no commission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customer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pricing/brand control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4069080"/>
            <a:ext cx="365760" cy="36576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" y="4112971"/>
            <a:ext cx="277978" cy="2779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4096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/ Trade-offs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8680" y="44805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all traffic (ads)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initial discovery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logistics &amp; returns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34840" y="12801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96167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12801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Marketplace-First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434840" y="201168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17720" y="219456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611" y="2238451"/>
            <a:ext cx="277978" cy="2779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93208" y="2221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663440" y="26060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to buyers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trust &amp; logistics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marketing cost early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17720" y="4069080"/>
            <a:ext cx="365760" cy="36576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611" y="4112971"/>
            <a:ext cx="277978" cy="27797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93208" y="4096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/ Trade-offs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663440" y="44805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commission typical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data ownership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Price-driven competition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229600" y="12801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2F3C7E"/>
          </a:solidFill>
          <a:ln/>
        </p:spPr>
      </p:sp>
      <p:sp>
        <p:nvSpPr>
          <p:cNvPr id="26" name="Text 20"/>
          <p:cNvSpPr/>
          <p:nvPr/>
        </p:nvSpPr>
        <p:spPr>
          <a:xfrm>
            <a:off x="8366760" y="12801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Wholesale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8229600" y="201168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412480" y="219456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371" y="2238451"/>
            <a:ext cx="277978" cy="27797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887968" y="2221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458200" y="26060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from bulk orders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brand presence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reliant on ad platforms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412480" y="4069080"/>
            <a:ext cx="365760" cy="36576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371" y="4112971"/>
            <a:ext cx="277978" cy="27797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87968" y="4096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/ Trade-offs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458200" y="44805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working capital tied up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receivable cycles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control over final display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End-to-End: Every Link Has to Hold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journey from concept to repeat customer — a weak link anywhere breaks the brand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25296" y="19659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997" y="20866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38528" y="185623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3816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76856" y="2468880"/>
            <a:ext cx="1078992" cy="0"/>
          </a:xfrm>
          <a:prstGeom prst="line">
            <a:avLst/>
          </a:prstGeom>
          <a:noFill/>
          <a:ln w="19050">
            <a:solidFill>
              <a:srgbClr val="5A67A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401568" y="19659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269" y="2086661"/>
            <a:ext cx="764438" cy="7644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85623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90088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Sourcing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453128" y="2468880"/>
            <a:ext cx="1078992" cy="0"/>
          </a:xfrm>
          <a:prstGeom prst="line">
            <a:avLst/>
          </a:prstGeom>
          <a:noFill/>
          <a:ln w="19050">
            <a:solidFill>
              <a:srgbClr val="5A67A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577840" y="19659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541" y="2086661"/>
            <a:ext cx="764438" cy="7644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1072" y="185623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6636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Printing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629400" y="2468880"/>
            <a:ext cx="1078992" cy="0"/>
          </a:xfrm>
          <a:prstGeom prst="line">
            <a:avLst/>
          </a:prstGeom>
          <a:noFill/>
          <a:ln w="19050">
            <a:solidFill>
              <a:srgbClr val="5A67A8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7754112" y="19659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3" y="2086661"/>
            <a:ext cx="764438" cy="7644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67344" y="185623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42632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805672" y="2468880"/>
            <a:ext cx="1078992" cy="0"/>
          </a:xfrm>
          <a:prstGeom prst="line">
            <a:avLst/>
          </a:prstGeom>
          <a:noFill/>
          <a:ln w="19050">
            <a:solidFill>
              <a:srgbClr val="5A67A8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9930384" y="19659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085" y="2086661"/>
            <a:ext cx="764438" cy="7644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643616" y="185623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518904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1497330" y="41605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031" y="4281221"/>
            <a:ext cx="764438" cy="76443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210562" y="405079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85850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2548890" y="4663440"/>
            <a:ext cx="1623060" cy="0"/>
          </a:xfrm>
          <a:prstGeom prst="line">
            <a:avLst/>
          </a:prstGeom>
          <a:noFill/>
          <a:ln w="19050">
            <a:solidFill>
              <a:srgbClr val="5A67A8"/>
            </a:solidFill>
            <a:prstDash val="dash"/>
          </a:ln>
        </p:spPr>
      </p:sp>
      <p:sp>
        <p:nvSpPr>
          <p:cNvPr id="33" name="Shape 25"/>
          <p:cNvSpPr/>
          <p:nvPr/>
        </p:nvSpPr>
        <p:spPr>
          <a:xfrm>
            <a:off x="4217670" y="41605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8371" y="4281221"/>
            <a:ext cx="764438" cy="76443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30902" y="405079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3806190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269230" y="4663440"/>
            <a:ext cx="1623060" cy="0"/>
          </a:xfrm>
          <a:prstGeom prst="line">
            <a:avLst/>
          </a:prstGeom>
          <a:noFill/>
          <a:ln w="19050">
            <a:solidFill>
              <a:srgbClr val="5A67A8"/>
            </a:solidFill>
            <a:prstDash val="dash"/>
          </a:ln>
        </p:spPr>
      </p:sp>
      <p:sp>
        <p:nvSpPr>
          <p:cNvPr id="38" name="Shape 29"/>
          <p:cNvSpPr/>
          <p:nvPr/>
        </p:nvSpPr>
        <p:spPr>
          <a:xfrm>
            <a:off x="6938010" y="41605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8711" y="4281221"/>
            <a:ext cx="764438" cy="76443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651242" y="405079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6526530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7989570" y="4663440"/>
            <a:ext cx="1623060" cy="0"/>
          </a:xfrm>
          <a:prstGeom prst="line">
            <a:avLst/>
          </a:prstGeom>
          <a:noFill/>
          <a:ln w="19050">
            <a:solidFill>
              <a:srgbClr val="5A67A8"/>
            </a:solidFill>
            <a:prstDash val="dash"/>
          </a:ln>
        </p:spPr>
      </p:sp>
      <p:sp>
        <p:nvSpPr>
          <p:cNvPr id="43" name="Shape 33"/>
          <p:cNvSpPr/>
          <p:nvPr/>
        </p:nvSpPr>
        <p:spPr>
          <a:xfrm>
            <a:off x="9658350" y="41605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9051" y="4281221"/>
            <a:ext cx="764438" cy="76443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371582" y="405079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6" name="Text 35"/>
          <p:cNvSpPr/>
          <p:nvPr/>
        </p:nvSpPr>
        <p:spPr>
          <a:xfrm>
            <a:off x="9246870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Service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Repeat-purchase loop: service quality and fit consistency feed back into design and marketing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Goes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cost breakdown for a mid-priced D2C t-shirt (per unit) — actuals vary by scale and channel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EAEDF6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3383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quality is where D2C challengers differentiate — don't cut this first.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fees (15–25%) can quietly erase your margin — model this before committing to a channel.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(CAC) rises fast in paid social — repeat purchases are what make unit economics work.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Survive the First 24 Months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DEBE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6660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defensible niche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670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compete on “all t-shirts for everyone.” Own a fit, fabric, print style or community.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DEBEC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77" y="166603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quality consistency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63440" y="2670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and fabric consistency is what turns a one-time buyer into a repeat customer.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DEBEC"/>
          </a:solidFill>
          <a:ln/>
        </p:spPr>
      </p:sp>
      <p:sp>
        <p:nvSpPr>
          <p:cNvPr id="14" name="Shape 10"/>
          <p:cNvSpPr/>
          <p:nvPr/>
        </p:nvSpPr>
        <p:spPr>
          <a:xfrm>
            <a:off x="8458200" y="1600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166603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digital-first, cheaply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458200" y="2670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content and community over paid ads until CAC is proven sustainable.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EFAE4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7" y="413491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709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customer data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68680" y="51389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sell on marketplaces early, build a direct channel (site, WhatsApp, email) fast.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43484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EFAE4"/>
          </a:solidFill>
          <a:ln/>
        </p:spPr>
      </p:sp>
      <p:sp>
        <p:nvSpPr>
          <p:cNvPr id="24" name="Shape 18"/>
          <p:cNvSpPr/>
          <p:nvPr/>
        </p:nvSpPr>
        <p:spPr>
          <a:xfrm>
            <a:off x="4663440" y="40690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7" y="4134917"/>
            <a:ext cx="416966" cy="41696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63440" y="4709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lean on inventory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663440" y="51389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batches, pre-orders and fast reorder cycles beat guessing demand months out.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22960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EFAE4"/>
          </a:solidFill>
          <a:ln/>
        </p:spPr>
      </p:sp>
      <p:sp>
        <p:nvSpPr>
          <p:cNvPr id="29" name="Shape 22"/>
          <p:cNvSpPr/>
          <p:nvPr/>
        </p:nvSpPr>
        <p:spPr>
          <a:xfrm>
            <a:off x="8458200" y="40690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4134917"/>
            <a:ext cx="416966" cy="41696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58200" y="4709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unit economics cold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458200" y="51389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scale spend until one order is profitable after fees, shipping and returns.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vs. Losses: The Honest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2E7D3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3441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90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Starting Now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1F8F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194560"/>
            <a:ext cx="4709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technical barrier to entry — sourcing, printing and fulfilment can all be outsourced early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margins are structurally better than wholesale if you can drive your own traffic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customer feedback lets you iterate designs faster than legacy retail brands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Festive/seasonal demand cycles in India give predictable sales spikes to plan around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comfort with online apparel returns/exchanges lowers the trust barrier for new brands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B23A2F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344168"/>
            <a:ext cx="457200" cy="45720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3990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280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/ Risks to Plan For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63640" y="19659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BEEEC"/>
          </a:solidFill>
          <a:ln/>
        </p:spPr>
      </p:sp>
      <p:sp>
        <p:nvSpPr>
          <p:cNvPr id="14" name="Text 10"/>
          <p:cNvSpPr/>
          <p:nvPr/>
        </p:nvSpPr>
        <p:spPr>
          <a:xfrm>
            <a:off x="6537960" y="2194560"/>
            <a:ext cx="4709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wars with unbranded sellers and fast-fashion giants can crush margins fast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return/exchange rates in apparel (fit issues) quietly eat into profit per order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gets tied up in inventory long before it converts to cash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on paid social keeps climbing as more D2C brands compete for attention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Copycats can replicate a successful design or niche within weeks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24-Month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DEBE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niche, fit &amp; fabric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Small-batch production run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1 marketplace + Instagram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78808" y="1847088"/>
            <a:ext cx="256032" cy="256032"/>
          </a:xfrm>
          <a:prstGeom prst="ellipse">
            <a:avLst/>
          </a:prstGeom>
          <a:solidFill>
            <a:srgbClr val="D9DCE8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4630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34840" y="2514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AEDF6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97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own D2C website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top return-reason issues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positive unit economics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847088"/>
            <a:ext cx="256032" cy="256032"/>
          </a:xfrm>
          <a:prstGeom prst="ellipse">
            <a:avLst/>
          </a:prstGeom>
          <a:solidFill>
            <a:srgbClr val="D9DC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4630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12–24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0" y="1828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0" y="2514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DEBEC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697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SKU range carefully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paid marketing spend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offline pop-ups / EBOs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EFAE4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257800"/>
            <a:ext cx="685800" cy="6858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5340096"/>
            <a:ext cx="521208" cy="5212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830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indent="0" marL="0">
              <a:buNone/>
            </a:pPr>
            <a:r>
              <a:rPr lang="en-US" sz="1300" dirty="0">
                <a:solidFill>
                  <a:srgbClr val="2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move to the next phase until the current one's numbers work. Scaling a broken unit economics model just loses money faster.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212B5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212B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83027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large and growing — but so is the competition; a vague “t-shirt brand” will not survive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on a specific niche, consistent quality, and owned customer relationships — not on price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 economics on a small scale before spending on growth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stage of the value chain — sourcing to returns — as part of the brand experience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852160"/>
            <a:ext cx="10515600" cy="0"/>
          </a:xfrm>
          <a:prstGeom prst="line">
            <a:avLst/>
          </a:prstGeom>
          <a:noFill/>
          <a:ln w="12700">
            <a:solidFill>
              <a:srgbClr val="4450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T-Shirt &amp; Shirt Brand: Competitive &amp; Survival Strategy</dc:title>
  <dc:subject>PptxGenJS Presentation</dc:subject>
  <dc:creator>Brand Strategy</dc:creator>
  <cp:lastModifiedBy>Brand Strategy</cp:lastModifiedBy>
  <cp:revision>1</cp:revision>
  <dcterms:created xsi:type="dcterms:W3CDTF">2026-07-06T10:39:26Z</dcterms:created>
  <dcterms:modified xsi:type="dcterms:W3CDTF">2026-07-06T10:39:26Z</dcterms:modified>
</cp:coreProperties>
</file>