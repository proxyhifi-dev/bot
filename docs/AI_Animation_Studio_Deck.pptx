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Pipeline</c:v>
                </c:pt>
              </c:strCache>
            </c:strRef>
          </c:tx>
          <c:spPr>
            <a:solidFill>
              <a:srgbClr val="2412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Cost Index</c:v>
                  </c:pt>
                  <c:pt idx="1">
                    <c:v>Delivery Weeks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AI-Augmented Pipeline</c:v>
                </c:pt>
              </c:strCache>
            </c:strRef>
          </c:tx>
          <c:spPr>
            <a:solidFill>
              <a:srgbClr val="22D3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Cost Index</c:v>
                  </c:pt>
                  <c:pt idx="1">
                    <c:v>Delivery Weeks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55</c:v>
                </c:pt>
                <c:pt idx="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F1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3A1F66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3A1F6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87599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CONTENT STUDIO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AI-Native Animation Studio for OTT &amp; Production Houses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original short films and series faster and leaner — using AI-augmented pipelines to compete for real OTT commissions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6126480"/>
            <a:ext cx="10515600" cy="0"/>
          </a:xfrm>
          <a:prstGeom prst="line">
            <a:avLst/>
          </a:prstGeom>
          <a:noFill/>
          <a:ln w="12700">
            <a:solidFill>
              <a:srgbClr val="4B38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Feasibility Study &amp; Strategy Deck  |  Idea-Stage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99616"/>
            <a:ext cx="566928" cy="566928"/>
          </a:xfrm>
          <a:prstGeom prst="ellipse">
            <a:avLst/>
          </a:prstGeom>
          <a:solidFill>
            <a:srgbClr val="F1EA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11" y="1567647"/>
            <a:ext cx="430865" cy="4308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99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7465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animation boom and the rise of generative AI in production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1499616"/>
            <a:ext cx="566928" cy="566928"/>
          </a:xfrm>
          <a:prstGeom prst="ellipse">
            <a:avLst/>
          </a:prstGeom>
          <a:solidFill>
            <a:srgbClr val="F1EA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231" y="1567647"/>
            <a:ext cx="430865" cy="4308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399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949440" y="17465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+ OTT + policy tailwinds converging in 2026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596896"/>
            <a:ext cx="566928" cy="566928"/>
          </a:xfrm>
          <a:prstGeom prst="ellipse">
            <a:avLst/>
          </a:prstGeom>
          <a:solidFill>
            <a:srgbClr val="F1EA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11" y="2664927"/>
            <a:ext cx="430865" cy="4308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496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2843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AI-native studio fits among giants and originators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72200" y="2596896"/>
            <a:ext cx="566928" cy="566928"/>
          </a:xfrm>
          <a:prstGeom prst="ellipse">
            <a:avLst/>
          </a:prstGeom>
          <a:solidFill>
            <a:srgbClr val="F1EAF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231" y="2664927"/>
            <a:ext cx="430865" cy="4308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2496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949440" y="2843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services + owned IP — two revenue engines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694176"/>
            <a:ext cx="566928" cy="566928"/>
          </a:xfrm>
          <a:prstGeom prst="ellipse">
            <a:avLst/>
          </a:prstGeom>
          <a:solidFill>
            <a:srgbClr val="F1EAF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11" y="3762207"/>
            <a:ext cx="430865" cy="43086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3593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Pipeline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417320" y="39410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step, and where AI compresses time and cost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172200" y="3694176"/>
            <a:ext cx="566928" cy="566928"/>
          </a:xfrm>
          <a:prstGeom prst="ellipse">
            <a:avLst/>
          </a:prstGeom>
          <a:solidFill>
            <a:srgbClr val="F1EAF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231" y="3762207"/>
            <a:ext cx="430865" cy="43086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3593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Speed Advantage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949440" y="39410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that make this viable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40080" y="4791456"/>
            <a:ext cx="566928" cy="566928"/>
          </a:xfrm>
          <a:prstGeom prst="ellipse">
            <a:avLst/>
          </a:prstGeom>
          <a:solidFill>
            <a:srgbClr val="F1EAFB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111" y="4859487"/>
            <a:ext cx="430865" cy="43086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17320" y="4690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1417320" y="50383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win our first OTT and production-house clients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172200" y="4791456"/>
            <a:ext cx="566928" cy="566928"/>
          </a:xfrm>
          <a:prstGeom prst="ellipse">
            <a:avLst/>
          </a:prstGeom>
          <a:solidFill>
            <a:srgbClr val="F1EAFB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231" y="4859487"/>
            <a:ext cx="430865" cy="43086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49440" y="4690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Vision 2030</a:t>
            </a:r>
            <a:endParaRPr lang="en-US" sz="1500" dirty="0"/>
          </a:p>
        </p:txBody>
      </p:sp>
      <p:sp>
        <p:nvSpPr>
          <p:cNvPr id="34" name="Text 24"/>
          <p:cNvSpPr/>
          <p:nvPr/>
        </p:nvSpPr>
        <p:spPr>
          <a:xfrm>
            <a:off x="6949440" y="50383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risks, and where we aim to be by 2030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You're Entering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animation industry is scaling fast — and AI is the biggest lever inside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EA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animation &amp; VFX sector in 2025, up from ~$950M three years earlier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6FB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$13.95B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India animation market size by 2034, at ~21.6% CAGR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EA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$931.5M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size of India's GenAI-in-animation segment by 2033 (from $61.6M in 2023)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6FB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2688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rate of the global generative-AI-in-animation market in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E6FB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617720"/>
            <a:ext cx="548640" cy="548640"/>
          </a:xfrm>
          <a:prstGeom prst="ellipse">
            <a:avLst/>
          </a:prstGeom>
          <a:solidFill>
            <a:srgbClr val="24124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4683557"/>
            <a:ext cx="416966" cy="41696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45720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a new AI animation studio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91640" y="4956048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platforms (Netflix, Prime Video, Disney+ Hotstar, SonyLIV) are actively commissioning original Indian animated series — Netflix has opened a creative-tech hub in Hyderabad.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now automate rigging, in-betweening, background generation and lip-sync — letting small teams deliver at a fraction of traditional cost and time.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isn't just service work — it's using that cost advantage to build owned, India-rooted IP that platforms want to license.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Works Now, Not Five Years Ago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581912"/>
            <a:ext cx="594360" cy="594360"/>
          </a:xfrm>
          <a:prstGeom prst="ellipse">
            <a:avLst/>
          </a:prstGeom>
          <a:solidFill>
            <a:srgbClr val="2412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1653235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367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Matured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6112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rigging, in-betweening and background tools now handle production-grade output, not just previz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3258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19672" y="1581912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995" y="1653235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367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Commissioning Is Open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519672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are funding original Indian animated IP at unprecedented scale, especially mythology-rooted stories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5661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96112" y="3822192"/>
            <a:ext cx="594360" cy="594360"/>
          </a:xfrm>
          <a:prstGeom prst="ellipse">
            <a:avLst/>
          </a:prstGeom>
          <a:solidFill>
            <a:srgbClr val="24124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3893515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8770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Is Pushing AVGC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96112" y="4526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Animation-VFX-Gaming-Comics policy funds training centres and a National Centre of Excellence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63640" y="35661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19672" y="3822192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3893515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8770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Structures Are Shifting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519672" y="4526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using AI pipelines pass efficiency back as lower per-minute costs — changing who can compete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an AI-Native Studio Fits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908792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2606040"/>
                <a:gridCol w="2377440"/>
                <a:gridCol w="2194560"/>
                <a:gridCol w="1444752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2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2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2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Weakness / Gap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2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Where We Compete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24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B2E"/>
                          </a:solidFill>
                        </a:rPr>
                        <a:t>Tier 1 — Global VFX Houses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DNEG India, Reliance MediaWorks, Technicolor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Hollywood-grade, TPN-certified, huge scale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High cost, long timelines, built for $50M+ projects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Not here — different budget tier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B2E"/>
                          </a:solidFill>
                        </a:rPr>
                        <a:t>Tier 2 — IP Originators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Toonz Media Group, Green Gold (Chhota Bheem), Cosmos-Maya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Owned franchises, platform relationships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Slower to adopt full AI pipelines at scale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Compete on speed + AI cost edge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B2E"/>
                          </a:solidFill>
                        </a:rPr>
                        <a:t>Tier 3 — Boutique/Service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Regional 2D/3D shops, corporate explainer studios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Low cost, flexible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Inconsistent quality, no original IP ambition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Compete on quality + IP ownership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B2E"/>
                          </a:solidFill>
                        </a:rPr>
                        <a:t>AI-Native Entrants (Us)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New AI-first studios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Fast, lean, low overhead, AI-compressed costs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No track record or platform trust yet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2E"/>
                          </a:solidFill>
                        </a:rPr>
                        <a:t>Build via pilot projects + niche IP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62356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E6FBF8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57424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 </a:t>
            </a:r>
            <a:pPr indent="0" marL="0">
              <a:buNone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chase Tier-1 scale or Tier-2 IP libraries on day one — we win by delivering broadcast-credible short-form content faster and cheaper via AI, then reinvest into owned IP.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Revenue Engines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2412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AI-Accelerated Production Services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4942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revenue from day one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platform relationships &amp; credibility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than owned-IP bets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42611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2519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/ Trade-offs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14400" y="47548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owns the IP, not you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capped by service pricing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on repeat commissions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63640" y="12801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/>
        </p:spPr>
      </p:sp>
      <p:sp>
        <p:nvSpPr>
          <p:cNvPr id="15" name="Text 11"/>
          <p:cNvSpPr/>
          <p:nvPr/>
        </p:nvSpPr>
        <p:spPr>
          <a:xfrm>
            <a:off x="6446520" y="12801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Original IP (Series/Shorts)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63640" y="20116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92240" y="2194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24942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22402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537960" y="274320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+ syndication revenue over years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Mythology/regional stories are hard to replicate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brand &amp; valuation upside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26110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42519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/ Trade-offs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537960" y="47548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upfront risk — no guaranteed buyer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payback period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stronger storytelling + marketing muscle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AI-Augmented Production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creative direction stays at the center — AI compresses the labor-heavy middle steps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97330" y="196596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031" y="208666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10562" y="1856232"/>
            <a:ext cx="365760" cy="365760"/>
          </a:xfrm>
          <a:prstGeom prst="ellipse">
            <a:avLst/>
          </a:prstGeom>
          <a:solidFill>
            <a:srgbClr val="22D3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4013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Script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8890" y="2468880"/>
            <a:ext cx="1623060" cy="0"/>
          </a:xfrm>
          <a:prstGeom prst="line">
            <a:avLst/>
          </a:prstGeom>
          <a:noFill/>
          <a:ln w="19050">
            <a:solidFill>
              <a:srgbClr val="5D4894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217670" y="196596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371" y="2086661"/>
            <a:ext cx="764438" cy="7644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0902" y="1856232"/>
            <a:ext cx="365760" cy="365760"/>
          </a:xfrm>
          <a:prstGeom prst="ellipse">
            <a:avLst/>
          </a:prstGeom>
          <a:solidFill>
            <a:srgbClr val="22D3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76047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Storyboarding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269230" y="2468880"/>
            <a:ext cx="1623060" cy="0"/>
          </a:xfrm>
          <a:prstGeom prst="line">
            <a:avLst/>
          </a:prstGeom>
          <a:noFill/>
          <a:ln w="19050">
            <a:solidFill>
              <a:srgbClr val="5D4894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938010" y="196596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711" y="2086661"/>
            <a:ext cx="764438" cy="7644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51242" y="1856232"/>
            <a:ext cx="365760" cy="365760"/>
          </a:xfrm>
          <a:prstGeom prst="ellipse">
            <a:avLst/>
          </a:prstGeom>
          <a:solidFill>
            <a:srgbClr val="22D3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8081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Asset &amp; Character Gen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989570" y="2468880"/>
            <a:ext cx="1623060" cy="0"/>
          </a:xfrm>
          <a:prstGeom prst="line">
            <a:avLst/>
          </a:prstGeom>
          <a:noFill/>
          <a:ln w="19050">
            <a:solidFill>
              <a:srgbClr val="5D4894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9658350" y="196596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51" y="2086661"/>
            <a:ext cx="764438" cy="7644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371582" y="1856232"/>
            <a:ext cx="365760" cy="365760"/>
          </a:xfrm>
          <a:prstGeom prst="ellipse">
            <a:avLst/>
          </a:prstGeom>
          <a:solidFill>
            <a:srgbClr val="22D3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20115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Rigging &amp; Motion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1497330" y="416052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031" y="4281221"/>
            <a:ext cx="764438" cy="76443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210562" y="4050792"/>
            <a:ext cx="365760" cy="365760"/>
          </a:xfrm>
          <a:prstGeom prst="ellipse">
            <a:avLst/>
          </a:prstGeom>
          <a:solidFill>
            <a:srgbClr val="22D3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40130" y="5257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Creative QC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2548890" y="4663440"/>
            <a:ext cx="1623060" cy="0"/>
          </a:xfrm>
          <a:prstGeom prst="line">
            <a:avLst/>
          </a:prstGeom>
          <a:noFill/>
          <a:ln w="19050">
            <a:solidFill>
              <a:srgbClr val="5D4894"/>
            </a:solidFill>
            <a:prstDash val="dash"/>
          </a:ln>
        </p:spPr>
      </p:sp>
      <p:sp>
        <p:nvSpPr>
          <p:cNvPr id="28" name="Shape 21"/>
          <p:cNvSpPr/>
          <p:nvPr/>
        </p:nvSpPr>
        <p:spPr>
          <a:xfrm>
            <a:off x="4217670" y="416052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371" y="4281221"/>
            <a:ext cx="764438" cy="76443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30902" y="4050792"/>
            <a:ext cx="365760" cy="365760"/>
          </a:xfrm>
          <a:prstGeom prst="ellipse">
            <a:avLst/>
          </a:prstGeom>
          <a:solidFill>
            <a:srgbClr val="22D3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3760470" y="5257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&amp; AI Lip-Sync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5269230" y="4663440"/>
            <a:ext cx="1623060" cy="0"/>
          </a:xfrm>
          <a:prstGeom prst="line">
            <a:avLst/>
          </a:prstGeom>
          <a:noFill/>
          <a:ln w="19050">
            <a:solidFill>
              <a:srgbClr val="5D4894"/>
            </a:solidFill>
            <a:prstDash val="dash"/>
          </a:ln>
        </p:spPr>
      </p:sp>
      <p:sp>
        <p:nvSpPr>
          <p:cNvPr id="33" name="Shape 25"/>
          <p:cNvSpPr/>
          <p:nvPr/>
        </p:nvSpPr>
        <p:spPr>
          <a:xfrm>
            <a:off x="6938010" y="416052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8711" y="4281221"/>
            <a:ext cx="764438" cy="76443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651242" y="4050792"/>
            <a:ext cx="365760" cy="365760"/>
          </a:xfrm>
          <a:prstGeom prst="ellipse">
            <a:avLst/>
          </a:prstGeom>
          <a:solidFill>
            <a:srgbClr val="22D3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80810" y="5257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&amp; Compositing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7989570" y="4663440"/>
            <a:ext cx="1623060" cy="0"/>
          </a:xfrm>
          <a:prstGeom prst="line">
            <a:avLst/>
          </a:prstGeom>
          <a:noFill/>
          <a:ln w="19050">
            <a:solidFill>
              <a:srgbClr val="5D4894"/>
            </a:solidFill>
            <a:prstDash val="dash"/>
          </a:ln>
        </p:spPr>
      </p:sp>
      <p:sp>
        <p:nvSpPr>
          <p:cNvPr id="38" name="Shape 29"/>
          <p:cNvSpPr/>
          <p:nvPr/>
        </p:nvSpPr>
        <p:spPr>
          <a:xfrm>
            <a:off x="9658350" y="416052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51" y="4281221"/>
            <a:ext cx="764438" cy="76443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371582" y="4050792"/>
            <a:ext cx="365760" cy="365760"/>
          </a:xfrm>
          <a:prstGeom prst="ellipse">
            <a:avLst/>
          </a:prstGeom>
          <a:solidFill>
            <a:srgbClr val="22D3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9201150" y="5257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Platform Compliance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heavy lifting on repetitive frames; artists and directors own story, style and final polish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&amp; Speed Advantage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comparison, indexed — traditional pipeline vs. AI-augmented pipeline (per minute of finished animation)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F1EAFB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01000" y="2194560"/>
            <a:ext cx="3383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Rigging and in-betweening — traditionally the most labor-heavy steps — are where AI saves the most time.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 means more pitches, more pilots, and faster iteration with OTT commissioning teams.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should fund better writing, sound design and original IP — not just thinner margins.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 Our First OTT &amp; Production-House Clients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EA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16660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proof-of-concept short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3–5 minute festival-quality short film, fully AI-augmented, as a portfolio calling card.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3484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EAFB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277" y="166603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production houses first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66344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as an execution arm for houses that already have OTT relationships but need faster delivery.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EA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458200" y="160020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166603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mythology &amp; regional IP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45820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India-rooted stories are a proven differentiator platforms are actively seeking.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E6FBF8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24124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7" y="413491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709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AVGC government support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68680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AVGC skilling/incentive programs to offset early production costs.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434840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E6FBF8"/>
          </a:solidFill>
          <a:ln/>
        </p:spPr>
      </p:sp>
      <p:sp>
        <p:nvSpPr>
          <p:cNvPr id="24" name="Shape 18"/>
          <p:cNvSpPr/>
          <p:nvPr/>
        </p:nvSpPr>
        <p:spPr>
          <a:xfrm>
            <a:off x="4663440" y="4069080"/>
            <a:ext cx="548640" cy="548640"/>
          </a:xfrm>
          <a:prstGeom prst="ellipse">
            <a:avLst/>
          </a:prstGeom>
          <a:solidFill>
            <a:srgbClr val="24124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77" y="4134917"/>
            <a:ext cx="416966" cy="41696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63440" y="4709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at festivals &amp; markets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663440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MIFF, Annecy India presence, and OTT content markets to get in front of commissioning teams.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229600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E6FBF8"/>
          </a:solidFill>
          <a:ln/>
        </p:spPr>
      </p:sp>
      <p:sp>
        <p:nvSpPr>
          <p:cNvPr id="29" name="Shape 22"/>
          <p:cNvSpPr/>
          <p:nvPr/>
        </p:nvSpPr>
        <p:spPr>
          <a:xfrm>
            <a:off x="8458200" y="4069080"/>
            <a:ext cx="548640" cy="548640"/>
          </a:xfrm>
          <a:prstGeom prst="ellipse">
            <a:avLst/>
          </a:prstGeom>
          <a:solidFill>
            <a:srgbClr val="24124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037" y="4134917"/>
            <a:ext cx="416966" cy="41696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58200" y="4709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 over pitching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458200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delivered pilot becomes the credibility asset for the next, bigger commission.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vs. Losses: The Honest Picture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2E7D32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34416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990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801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Starting Now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1F8F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194560"/>
            <a:ext cx="4709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tooling lowers the capital needed to produce broadcast-credible animation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platforms are actively funding original Indian IP right now, not just outsourcing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AVGC incentives can offset early training and production costs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Mythology and regional stories are a structural advantage no other market can copy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AI-augmented teams can iterate and pitch faster than legacy studios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B23A2F"/>
          </a:solidFill>
          <a:ln/>
        </p:spPr>
      </p:sp>
      <p:sp>
        <p:nvSpPr>
          <p:cNvPr id="10" name="Shape 7"/>
          <p:cNvSpPr/>
          <p:nvPr/>
        </p:nvSpPr>
        <p:spPr>
          <a:xfrm>
            <a:off x="6373368" y="1344168"/>
            <a:ext cx="457200" cy="45720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3990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2801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/ Risks to Plan For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63640" y="19659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BEEEC"/>
          </a:solidFill>
          <a:ln/>
        </p:spPr>
      </p:sp>
      <p:sp>
        <p:nvSpPr>
          <p:cNvPr id="14" name="Text 10"/>
          <p:cNvSpPr/>
          <p:nvPr/>
        </p:nvSpPr>
        <p:spPr>
          <a:xfrm>
            <a:off x="6537960" y="2194560"/>
            <a:ext cx="4709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trust or track record yet — first deals will be the hardest to close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visuals can still look inconsistent without strong human art direction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and rights questions around AI-generated assets are still legally evolving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studios can also adopt AI, narrowing your cost advantage over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Owned-IP bets carry real financial risk with no guaranteed buyer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24-Month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EA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97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core AI pipeline &amp; small team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1 proof-of-concept short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AVGC support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78808" y="1847088"/>
            <a:ext cx="256032" cy="256032"/>
          </a:xfrm>
          <a:prstGeom prst="ellipse">
            <a:avLst/>
          </a:prstGeom>
          <a:solidFill>
            <a:srgbClr val="E7E2F2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4630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41242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1828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34840" y="2514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6FBF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97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to production houses &amp; OTT teams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first paid service commission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festivals/markets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847088"/>
            <a:ext cx="256032" cy="256032"/>
          </a:xfrm>
          <a:prstGeom prst="ellipse">
            <a:avLst/>
          </a:prstGeom>
          <a:solidFill>
            <a:srgbClr val="E7E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4630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12–24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0" y="1828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IP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0" y="2514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EAFB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697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2–3 client productions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first owned original series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owned IP to platforms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E6FBF8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257800"/>
            <a:ext cx="685800" cy="685800"/>
          </a:xfrm>
          <a:prstGeom prst="ellipse">
            <a:avLst/>
          </a:prstGeom>
          <a:solidFill>
            <a:srgbClr val="24124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5340096"/>
            <a:ext cx="521208" cy="5212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7830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pPr indent="0" marL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pipeline on one great short before pitching a slate. One credible, well-made piece of work opens more doors than any deck.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3A1F66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3A1F6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Headed: Vision 2030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2030, we aim to be a recognized AI-native Indian animation studio — not just a vendor, but an IP owner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3A1F6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226039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221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Owned Original Series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on at least one major OTT platform, with recognizable Indian 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9659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3A1F66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2194560"/>
            <a:ext cx="548640" cy="5486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797" y="226039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221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Distribution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2834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licensed beyond India — into Southeast Asia, Middle East and Western streaming catalogs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9319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3A1F66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422635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187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Person Studio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68680" y="4800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AI-augmented creative team across writing, art direction, and technical pipeline roles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09360" y="39319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3A1F66"/>
          </a:solidFill>
          <a:ln/>
        </p:spPr>
      </p:sp>
      <p:sp>
        <p:nvSpPr>
          <p:cNvPr id="22" name="Shape 17"/>
          <p:cNvSpPr/>
          <p:nvPr/>
        </p:nvSpPr>
        <p:spPr>
          <a:xfrm>
            <a:off x="6537960" y="4160520"/>
            <a:ext cx="548640" cy="5486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797" y="422635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187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Revenue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537960" y="4800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 of service commissions, owned-IP licensing, and merchandise/gaming spin-offs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8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aspirational target, not a guarantee — each milestone depends on proving the model at every stage before it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3A1F6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3A1F6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83027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animation market and AI-in-animation segment are both growing faster than the industry average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edge isn't just “using AI” — it's using the cost/speed savings to build a track record, then owned IP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small, credible projects first; let delivered work (not decks) open OTT doors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2030, the goal is to be an IP-owning studio, not just a production vendor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852160"/>
            <a:ext cx="10515600" cy="0"/>
          </a:xfrm>
          <a:prstGeom prst="line">
            <a:avLst/>
          </a:prstGeom>
          <a:noFill/>
          <a:ln w="12700">
            <a:solidFill>
              <a:srgbClr val="4B38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Animation Studio: Strategy &amp; Feasibility</dc:title>
  <dc:subject>PptxGenJS Presentation</dc:subject>
  <dc:creator>Studio Strategy</dc:creator>
  <cp:lastModifiedBy>Studio Strategy</cp:lastModifiedBy>
  <cp:revision>1</cp:revision>
  <dcterms:created xsi:type="dcterms:W3CDTF">2026-07-06T10:57:01Z</dcterms:created>
  <dcterms:modified xsi:type="dcterms:W3CDTF">2026-07-06T10:57:01Z</dcterms:modified>
</cp:coreProperties>
</file>